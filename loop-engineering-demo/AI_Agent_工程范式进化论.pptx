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工程范式研究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从「怎么说」到「怎么跑」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四种 AI 应用开发技术范式调研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10312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97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6606" y="4645152"/>
            <a:ext cx="256032" cy="3108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29000" y="4297680"/>
            <a:ext cx="210312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4297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646" y="4645152"/>
            <a:ext cx="256032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35040" y="4297680"/>
            <a:ext cx="2103120" cy="100584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14" name="Text 10"/>
          <p:cNvSpPr/>
          <p:nvPr/>
        </p:nvSpPr>
        <p:spPr>
          <a:xfrm>
            <a:off x="6035040" y="4297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686" y="4645152"/>
            <a:ext cx="256032" cy="31089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41080" y="4297680"/>
            <a:ext cx="2103120" cy="10058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7" name="Text 12"/>
          <p:cNvSpPr/>
          <p:nvPr/>
        </p:nvSpPr>
        <p:spPr>
          <a:xfrm>
            <a:off x="8641080" y="4297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调研日期：2026-06-12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范式演进：四层工程能力的叠加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每一层都没有取代上一层，而是在其基础上解决新出现的问题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9748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1031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951" y="22841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优化「如何向模型提问」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5120640"/>
            <a:ext cx="2148840" cy="50292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120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核心问题: 怎么问？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367588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10712" y="1691640"/>
            <a:ext cx="26974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10712" y="1691640"/>
            <a:ext cx="269748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1"/>
          <p:cNvSpPr/>
          <p:nvPr/>
        </p:nvSpPr>
        <p:spPr>
          <a:xfrm>
            <a:off x="4347972" y="21031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023" y="228417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47872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593592" y="3840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管理模型「知道/看到/记住」的信息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3685032" y="5120640"/>
            <a:ext cx="2148840" cy="50292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0" name="Text 15"/>
          <p:cNvSpPr/>
          <p:nvPr/>
        </p:nvSpPr>
        <p:spPr>
          <a:xfrm>
            <a:off x="3685032" y="5120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核心问题: 知道什么？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3675888"/>
            <a:ext cx="237744" cy="23774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272784" y="1691640"/>
            <a:ext cx="26974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272784" y="1691640"/>
            <a:ext cx="2697480" cy="109728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24" name="Shape 18"/>
          <p:cNvSpPr/>
          <p:nvPr/>
        </p:nvSpPr>
        <p:spPr>
          <a:xfrm>
            <a:off x="7210044" y="2103120"/>
            <a:ext cx="822960" cy="82296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095" y="2284171"/>
            <a:ext cx="460858" cy="46085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9944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455664" y="3840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构建包裹模型的工具/权限/运行环境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547104" y="5120640"/>
            <a:ext cx="2148840" cy="50292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9" name="Text 22"/>
          <p:cNvSpPr/>
          <p:nvPr/>
        </p:nvSpPr>
        <p:spPr>
          <a:xfrm>
            <a:off x="6547104" y="5120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核心问题: 怎么行动？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3688" y="3675888"/>
            <a:ext cx="237744" cy="237744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134856" y="1691640"/>
            <a:ext cx="26974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9134856" y="1691640"/>
            <a:ext cx="2697480" cy="10972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3" name="Shape 25"/>
          <p:cNvSpPr/>
          <p:nvPr/>
        </p:nvSpPr>
        <p:spPr>
          <a:xfrm>
            <a:off x="10072116" y="210312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3167" y="2284171"/>
            <a:ext cx="460858" cy="46085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272016" y="3108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Engineering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9317736" y="38404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设计感知-思考-行动的持续迭代循环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9409176" y="5120640"/>
            <a:ext cx="2148840" cy="50292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38" name="Text 29"/>
          <p:cNvSpPr/>
          <p:nvPr/>
        </p:nvSpPr>
        <p:spPr>
          <a:xfrm>
            <a:off x="9409176" y="512064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核心问题: 如何持续？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· 提示词工程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通过设计输入文本，引导LLM产出期望输出 —— AI应用的『入门范式』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发展历程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868680" y="2542032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7"/>
          <p:cNvSpPr/>
          <p:nvPr/>
        </p:nvSpPr>
        <p:spPr>
          <a:xfrm>
            <a:off x="118872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148840" y="23957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GPT-3问世，「提示」成为人机交互核心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68680" y="3255264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0"/>
          <p:cNvSpPr/>
          <p:nvPr/>
        </p:nvSpPr>
        <p:spPr>
          <a:xfrm>
            <a:off x="1188720" y="3108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48840" y="310896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Google提出 Chain-of-Thought（思维链）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68680" y="3968496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3"/>
          <p:cNvSpPr/>
          <p:nvPr/>
        </p:nvSpPr>
        <p:spPr>
          <a:xfrm>
            <a:off x="1188720" y="3822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148840" y="382219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「Prompt Engineer」成为热门新兴职位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68680" y="4681728"/>
            <a:ext cx="146304" cy="14630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6"/>
          <p:cNvSpPr/>
          <p:nvPr/>
        </p:nvSpPr>
        <p:spPr>
          <a:xfrm>
            <a:off x="1188720" y="45354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2024-25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148840" y="453542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技术标准化、模板化，范式开始转移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77240" y="5458968"/>
            <a:ext cx="4937760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3" name="Text 19"/>
          <p:cNvSpPr/>
          <p:nvPr/>
        </p:nvSpPr>
        <p:spPr>
          <a:xfrm>
            <a:off x="1005840" y="54864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 → 58%</a:t>
            </a:r>
            <a:endParaRPr lang="en-US" sz="3000" dirty="0"/>
          </a:p>
        </p:txBody>
      </p:sp>
      <p:sp>
        <p:nvSpPr>
          <p:cNvPr id="24" name="Text 20"/>
          <p:cNvSpPr/>
          <p:nvPr/>
        </p:nvSpPr>
        <p:spPr>
          <a:xfrm>
            <a:off x="2926080" y="5486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提示使数学应用题准确率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大幅提升（Wei et al., Google 2022）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263640" y="1554480"/>
            <a:ext cx="539496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882" y="1893722"/>
            <a:ext cx="281635" cy="28163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3232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核心技术手段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6537960" y="2423160"/>
            <a:ext cx="5074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/ Few-shot：提供少量示例引导输出格式与风格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Chain-of-Thought：让模型展示推理步骤，提升准确率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角色设定（Role Prompting）：赋予专家身份，约束语气视角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输出格式约束：指定 JSON / Markdown / 表格等结构化输出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设计：设定全局行为准则、边界与人格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提示模板：变量化、可复用的提示结构，支持版本管理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Self-Consistency：推理+行动结合，多路径投票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的局限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单轮静态提示，难以应对多步骤、多工具的 Agent 场景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4864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3774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“Context Engineering is in,</a:t>
            </a:r>
            <a:endParaRPr lang="en-US" sz="2400" dirty="0"/>
          </a:p>
          <a:p>
            <a:pPr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Engineering is out.”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2296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Gartner, 2025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42976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仅关注「如何问」，未解决「模型该知道什么」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Karpathy、Shopify CEO 等公开背书新范式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WSJ：Prompt Engineer 岗位因模型更懂用户意图而式微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63640" y="1554480"/>
            <a:ext cx="539496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瓶颈已从「措辞」转向系统能力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537960" y="24231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684" y="2547884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1520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315200" y="27157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管理动态信息架构：记忆、检索、工具结果、上下文窗口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37960" y="3657600"/>
            <a:ext cx="566928" cy="566928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684" y="3782324"/>
            <a:ext cx="317480" cy="317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315200" y="39502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构建Agent运行的「脚手架」：循环、状态管理、工具调用框架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537960" y="489204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2684" y="5016764"/>
            <a:ext cx="317480" cy="317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Engineering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315200" y="51846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设计持续迭代循环：任务分解、自我修正、终止条件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Engineering · 上下文工程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管理LLM推理时全部token配置的策略集合 —— Prompt Engineering的自然演进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2120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核心问题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2286000"/>
            <a:ext cx="4663440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2860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此刻知道什么、看到什么、记得什么？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兴起背景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397764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2025年2月 Anthropic 推出 Claude Code，催生精细化上下文管理需求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Agent任务从「单轮问答」走向「长程多步骤自主执行」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上下文窗口虽扩大，但模型对超长上下文存在「信号衰减」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是 Context Engineering 的子集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1554480"/>
            <a:ext cx="56692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6364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关键技术手段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63640" y="233172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82" y="2442362"/>
            <a:ext cx="281635" cy="281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03720" y="2286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紧凑化（Compaction）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对接近窗口上限的对话做摘要压缩，保留关键决策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263640" y="310896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282" y="321960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30632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结构化笔记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写入 NOTES.md 等外部文件，实现跨轮持久记忆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263640" y="388620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399684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840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子代理架构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子任务独立上下文，仅回传1000-2000 token摘要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263640" y="466344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282" y="4774082"/>
            <a:ext cx="281635" cy="28163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903720" y="4617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即时检索 (JIT)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运行时动态加载文件/查询，而非预加载全量数据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263640" y="544068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4282" y="5551322"/>
            <a:ext cx="281635" cy="28163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03720" y="5394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记忆工具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跨会话持久存储与检索，记录用户偏好与纠正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案例：Claude Code 的分层记忆架构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—— 项目级持久指令文件，会话启动时自动加载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76072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37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分层记忆体系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286000"/>
            <a:ext cx="512064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3408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组织级 CLAUDE.md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26700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安全合规规范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74420" y="3200400"/>
            <a:ext cx="461772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1211580" y="325526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服务级 CLAUDE.md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11580" y="358444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 / 编码规范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325880" y="4114800"/>
            <a:ext cx="41148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1463040" y="41696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项目级 CLAUDE.md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63040" y="4498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架构背景 / 外部系统说明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1577340" y="5029200"/>
            <a:ext cx="3611880" cy="7772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8" name="Text 15"/>
          <p:cNvSpPr/>
          <p:nvPr/>
        </p:nvSpPr>
        <p:spPr>
          <a:xfrm>
            <a:off x="1714500" y="50840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 Memory（MEMORY.md）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714500" y="54132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自动记录用户纠正与偏好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492240" y="1554480"/>
            <a:ext cx="516636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7665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 最佳实践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766560" y="233172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建议控制在 80-120 行（高信号），上限约 200-300 行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只写「代码无法推断」的内容：偏好纠正、外部系统说明、架构背景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路径范围规则（path-scoped rules）：按文件路径条件加载，节省token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混合策略：预加载CLAUDE.md作骨架，运行时用glob/grep动态探索代码库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766560" y="4617720"/>
            <a:ext cx="4617720" cy="141732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47548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案例：Pokemon 游戏 Agent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无提示引导，Agent 自主创建持久记忆结构（地图、任务进度），完成长程游戏任务，验证了「即时检索+结构化笔记」的有效性。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 Engineering · 脚手架/外壳工程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包裹LLM的全部基础设施层：工具、权限、沙箱、记忆、编排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212080" cy="4663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核心公式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286000"/>
            <a:ext cx="4663440" cy="114300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28600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= Model + Harness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模型负责「思考」，Harness 负责「行动与约束」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「好模型+差Harness」不如「弱模型+好Harness」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同一模型，Harness决定输出方差远大于模型本身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Scaffold（管理层：规划/记忆）与 Harness（执行层：动作）需解耦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5349240"/>
            <a:ext cx="4663440" cy="7315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53492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148840" y="5349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企业级Agent失败源于Harness缺陷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（上下文漂移、状态退化）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989320" y="1554480"/>
            <a:ext cx="56692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关键技术手段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263640" y="233172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282" y="2442362"/>
            <a:ext cx="281635" cy="28163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2286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权限与安全沙箱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macOS用Seatbelt、Linux用Landlock做隔离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63640" y="310896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282" y="3219602"/>
            <a:ext cx="281635" cy="28163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30632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细粒度权限网关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每个工具独立鉴权，而非「全盘授权」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63640" y="388620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282" y="399684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38404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子代理编排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同一循环+独立上下文+受限工具集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263640" y="466344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282" y="4774082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03720" y="4617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多步骤执行循环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模型输出→权限检查→工具执行→结果回填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6263640" y="5440680"/>
            <a:ext cx="502920" cy="502920"/>
          </a:xfrm>
          <a:prstGeom prst="ellipse">
            <a:avLst/>
          </a:prstGeom>
          <a:solidFill>
            <a:srgbClr val="F3F7F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4282" y="5551322"/>
            <a:ext cx="281635" cy="28163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03720" y="5394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可观测性  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日志、审批流、成本限额、运行轨迹追踪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案例：Harness 驱动的工程实践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从「人写代码」到「人定义验收标准、补充护栏与文档」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Codex：百万行代码库实验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77440"/>
            <a:ext cx="1234440" cy="128016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4231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48840" y="2377440"/>
            <a:ext cx="1234440" cy="128016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24231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100万+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14884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行代码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74720" y="2377440"/>
            <a:ext cx="1234440" cy="128016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15" name="Text 12"/>
          <p:cNvSpPr/>
          <p:nvPr/>
        </p:nvSpPr>
        <p:spPr>
          <a:xfrm>
            <a:off x="3474720" y="24231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1500+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7472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合并PR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00600" y="2377440"/>
            <a:ext cx="1234440" cy="128016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24231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80060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PR/人/天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886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5个月产出约100万行代码，全程零手写代码。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工程师角色转向：定义验收标准、补充工具/护栏/文档。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22960" y="4937760"/>
            <a:ext cx="4937760" cy="1097280"/>
          </a:xfrm>
          <a:prstGeom prst="rect">
            <a:avLst/>
          </a:prstGeom>
          <a:solidFill>
            <a:srgbClr val="F3F7FA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5074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5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代表实践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Code（~19个权限受控工具）· Claude Agent SDK · OpenHarness（HKUDS开源）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263640" y="1554480"/>
            <a:ext cx="539496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长周期任务：双Agent架构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537960" y="2377440"/>
            <a:ext cx="4846320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3"/>
          <p:cNvSpPr/>
          <p:nvPr/>
        </p:nvSpPr>
        <p:spPr>
          <a:xfrm>
            <a:off x="6766560" y="23774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 Agent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搭建项目结构 / 建立进度追踪文档</a:t>
            </a:r>
            <a:endParaRPr lang="en-US" sz="14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778240" y="3611880"/>
            <a:ext cx="274320" cy="27432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6537960" y="3977640"/>
            <a:ext cx="4846320" cy="1188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9776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 Agent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增量推进开发，按交接文档持续接续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537960" y="5349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关键问题：单次会话「一把完成」会导致功能半成品+上下文耗尽。解决方案：上下文重置 + 结构化交接文档，实现跨会话连续推进。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Engineering · 循环/迭代工程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设计与优化Agent「感知-思考-行动」循环 —— 从一次性应答到持续迭代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76072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标准五阶段循环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0" y="2240280"/>
            <a:ext cx="1005840" cy="7315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0" y="2240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74031" y="3219624"/>
            <a:ext cx="1005840" cy="731520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1" name="Text 8"/>
          <p:cNvSpPr/>
          <p:nvPr/>
        </p:nvSpPr>
        <p:spPr>
          <a:xfrm>
            <a:off x="4274031" y="321962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推理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59160" y="4804236"/>
            <a:ext cx="1005840" cy="7315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0"/>
          <p:cNvSpPr/>
          <p:nvPr/>
        </p:nvSpPr>
        <p:spPr>
          <a:xfrm>
            <a:off x="3759160" y="480423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规划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93000" y="4804236"/>
            <a:ext cx="1005840" cy="731520"/>
          </a:xfrm>
          <a:prstGeom prst="ellipse">
            <a:avLst/>
          </a:prstGeom>
          <a:solidFill>
            <a:srgbClr val="3B5BA5"/>
          </a:solidFill>
          <a:ln/>
        </p:spPr>
      </p:sp>
      <p:sp>
        <p:nvSpPr>
          <p:cNvPr id="15" name="Text 12"/>
          <p:cNvSpPr/>
          <p:nvPr/>
        </p:nvSpPr>
        <p:spPr>
          <a:xfrm>
            <a:off x="2093000" y="480423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行动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578129" y="3219624"/>
            <a:ext cx="1005840" cy="7315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4"/>
          <p:cNvSpPr/>
          <p:nvPr/>
        </p:nvSpPr>
        <p:spPr>
          <a:xfrm>
            <a:off x="1578129" y="321962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观察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926080" y="3657600"/>
            <a:ext cx="100584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9" name="Text 16"/>
          <p:cNvSpPr/>
          <p:nvPr/>
        </p:nvSpPr>
        <p:spPr>
          <a:xfrm>
            <a:off x="2926080" y="36576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循环至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目标达成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2960" y="5715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核心：让LLM从「一次性应答」变为「持续迭代的执行体」——执行后观察结果，再决定下一步，可纠错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92240" y="1554480"/>
            <a:ext cx="516636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76656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出现背景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766560" y="228600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一次性prompt：输入→输出，无反馈、无修正机会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ReAct（Princeton/Google, 2022）首次将推理与行动交织于单一循环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AutoGPT（2023）尝试自主循环但常陷入「无意义空转」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 Ralph Loop：靠「纪律」而非复杂架构实现可靠迭代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766560" y="4251960"/>
            <a:ext cx="2286000" cy="1600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0" y="4297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+34%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858000" y="5029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ALFWorld 具身任务成功率提升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189720" y="4251960"/>
            <a:ext cx="2468880" cy="1600200"/>
          </a:xfrm>
          <a:prstGeom prst="rect">
            <a:avLst/>
          </a:prstGeom>
          <a:solidFill>
            <a:srgbClr val="3B5BA5"/>
          </a:solidFill>
          <a:ln/>
        </p:spPr>
      </p:sp>
      <p:sp>
        <p:nvSpPr>
          <p:cNvPr id="28" name="Text 25"/>
          <p:cNvSpPr/>
          <p:nvPr/>
        </p:nvSpPr>
        <p:spPr>
          <a:xfrm>
            <a:off x="9281160" y="4297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+10%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9281160" y="5029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WebShop 网购模拟成功率提升（ReAct基准）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 Engineering：技术、风险与实践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0020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复杂任务成功率从 20-40% 提升至 70-80%+，但需警惕「循环失控」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39496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关键技术手段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任务分解：将大目标拆解为可执行子步骤序列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工具调用循环：Think → Act(调用工具) → Observe → 再Think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自我反思/修正：基于执行结果重写计划或代码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上下文重置：每轮循环回归固定「锚点文件」，避免上下文腐化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终止条件设计：可验证奖励信号（测试通过/类型检查）或LLM自评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Hook机制：拦截退出请求，未达标则重新注入任务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调度与唤醒：如 Claude Code /loop 命令，定时唤醒长任务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486400" cy="22402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737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核心风险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2148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A5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15x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7863840" y="21945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「自动循环税」—— 失控循环的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token成本可达正常的15倍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46520" y="2971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上下文腐化：循环轮次增加但准确率反而下降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收敛性问题：不可靠搜索结果可导致非终止循环（终止逻辑应由外部系统保证）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3977640"/>
            <a:ext cx="548640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4652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案例：Ralph Loop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46520" y="4663440"/>
            <a:ext cx="1554480" cy="12344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7" name="Text 14"/>
          <p:cNvSpPr/>
          <p:nvPr/>
        </p:nvSpPr>
        <p:spPr>
          <a:xfrm>
            <a:off x="6446520" y="47091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259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4652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个PR / 30天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83880" y="46634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Boris Cherny 用单一prompt反复驱动 Claude Code，近30天259个PR均由Claude Code自身编写完成，验证「过夜自循环开发」可行性。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四种范式对比一览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512064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377440"/>
                <a:gridCol w="2377440"/>
                <a:gridCol w="23774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B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核心问题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怎么问？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知道/看到/记住什么？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怎么受控地行动？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如何持续迭代？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关键技术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/ CoT / 角色设定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压缩 / 笔记 / 子代理 / 即时检索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权限网关 / 沙箱 / 编排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任务分解 / 自我修正 / 终止条件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代表工具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/ Prompt模板库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CLAUDE.md / RAG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Agent SDK / Codex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/ Ralph Loop / /loop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核心局限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无法应对多步骤Agent场景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压缩/隔离可能丢失关键信息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跨会话记忆仍是开放问题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循环失控、成本暴涨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551615" y="6355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2A54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总结：四层范式，协同而非替代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8781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层层叠加，而非互相取代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Prompt是Context的子集，Context是Harness中信息流的一部分，Loop是Harness的运行时骨架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2884018"/>
            <a:ext cx="358445" cy="3584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788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瓶颈持续上移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从「怎么说」(Prompt) → 「知道什么」(Context) → 「怎么行动」(Harness) → 「如何持续」(Loop)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3749040"/>
            <a:ext cx="640080" cy="640080"/>
          </a:xfrm>
          <a:prstGeom prst="ellipse">
            <a:avLst/>
          </a:prstGeom>
          <a:solidFill>
            <a:srgbClr val="3B5BA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388985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794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外部护栏是关键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无论Context压缩、Harness权限、还是Loop终止条件，可靠性都依赖系统而非模型自身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4895698"/>
            <a:ext cx="358445" cy="3584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91640" y="48006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实践已先于理论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Code、Codex、Ralph Loop等已验证四种范式叠加可支撑「过夜自动开发」「百万行代码」级别的生产实践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工程范式调研 · 多Agent调研协作完成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工程范式进化论</dc:title>
  <dc:subject>PptxGenJS Presentation</dc:subject>
  <dc:creator>Research Agents</dc:creator>
  <cp:lastModifiedBy>Research Agents</cp:lastModifiedBy>
  <cp:revision>1</cp:revision>
  <dcterms:created xsi:type="dcterms:W3CDTF">2026-06-12T15:24:53Z</dcterms:created>
  <dcterms:modified xsi:type="dcterms:W3CDTF">2026-06-12T15:24:53Z</dcterms:modified>
</cp:coreProperties>
</file>